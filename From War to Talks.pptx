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0" r:id="rId5"/>
    <p:sldId id="258" r:id="rId6"/>
    <p:sldId id="263" r:id="rId7"/>
    <p:sldId id="264" r:id="rId8"/>
    <p:sldId id="265" r:id="rId9"/>
    <p:sldId id="261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C3B74-09D8-FF8D-8626-F012C57D0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5E86D-B531-0553-B720-E23CC5400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2E603-5EC3-DD1B-7B0F-AD7480BC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EA602-3F01-93E5-AE0E-53247EEFA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45737-F800-63E4-0E55-04B50E2A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025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5C4B-4168-A7E9-048B-F5376F25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67617-4327-8355-2C6B-58F89849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57F27-93A1-851E-D9EA-924796CA1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2B8D8-97A9-FD82-3F59-197B3B16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08E96-961C-6C03-26C7-9D0AC649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7467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96C16-CC8A-FE94-0C20-0D5E552FF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D412D-CB45-F127-D6EA-CA8AED67C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D8602-3C36-F13B-A152-44AA24F14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39B38-4652-0A67-CBE4-8FFF5736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98912-DB80-ED8A-01BC-8C47CAEA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906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A3DF-B9FD-CC55-81CC-FF2EB5DA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E94F-5A18-C883-C7EE-1FE67879D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6667-DBEC-26A5-3B03-139E63334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5DC57-AC16-DD87-A0A3-42A30645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22AC7-C172-7CFB-3A89-9C7A90063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E05D5-D607-C825-13A5-E3B4CCF2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917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59F5-D9E5-AA09-1CAE-ECBFB0DBC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55360-F0FB-80A3-B0C7-21946816F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9C225-13D2-6788-2F7C-2CF86B0AF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0811BD-0A56-2209-1360-5055A6BF70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3E460-E0A1-5836-1036-648DB13F4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738195-7D8C-E88D-5158-9E16D68C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B0FCC-C0FD-46AF-A699-4718E860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D73BDD-ABEC-2608-D143-E55FD0DA5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945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BE0E4-F06F-7BAF-128D-07363519C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5A16F-7F6B-61B6-CF1F-2F4E4D0EE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F449A-7942-1E46-17FE-05215BB3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79581-4B86-059C-A154-ACF3F2A2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14312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346BC4-7E93-2A7B-AE4A-049314F2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50902-25A2-0B84-DDEF-C91C95DF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CA543-47B8-ECE4-EE64-6CA6A991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0524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1F25-AA92-5934-FBC6-9541C9D96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EF24-9B46-0B20-94ED-66CE75A58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4DEA9-3905-6CC0-C874-C1A07AD5C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3ED79-D04D-84FE-6CEA-A118B3BB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891D9-AAA7-7457-0441-A488BAB50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6EAE-F4C3-D6EF-7EFA-CE6D76DA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24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49D3-CA57-3A3B-903C-CC265DF7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C0E3C-5DD0-8528-2A0F-1D6AE1DE3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8F0998-145F-2B88-EEDE-65A525203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BA7DD-D386-4E87-3229-97A691FE6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DBEB4-BE66-BD72-8EF1-A87A6F40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2FEC2-0721-D910-D5E7-9667953B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9466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18D7-7B17-2789-910B-35AECA924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570D7-94A0-7030-07C2-1D4C3D068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26D86-5B3B-37E1-5F11-5EA956FF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D5F7D-713B-8A98-1034-F0011B7F1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7061-D6E6-0027-4343-B0EEE6D5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5028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6993E0-3D86-6319-C728-5F68E4474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93904-C8F3-A62F-B2BB-BFD7A51E3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7CD54-1BA6-0046-EDBB-E12B512E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9A4C6-8AA4-EABF-5EC4-51392A4A5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55F0C-7E1F-B7FF-CAF4-7984F63B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481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2F4B31-D111-3F9A-907E-B5FBA3224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F93C2-7A32-295F-E312-79D9322A0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64E7A-9677-E38C-8D76-81F6E48FE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4A05B-E1EA-4708-9CEC-18AFC249EC42}" type="datetimeFigureOut">
              <a:rPr lang="es-MX" smtClean="0"/>
              <a:t>01/04/2026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72C4B-E66B-64E6-3F79-563A6ABF3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4ACE5-B692-FB54-4DDF-66C273970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823BC-DDD8-42E5-B97B-907C8439946F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1789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ombatientes de la guerrilla del ELN">
            <a:extLst>
              <a:ext uri="{FF2B5EF4-FFF2-40B4-BE49-F238E27FC236}">
                <a16:creationId xmlns:a16="http://schemas.microsoft.com/office/drawing/2014/main" id="{2209CD10-86AA-E18E-B8EF-923175438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35364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22CBC-CC38-E4F0-54F9-AF04DB0A4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700" noProof="0">
                <a:solidFill>
                  <a:schemeClr val="bg1"/>
                </a:solidFill>
              </a:rPr>
              <a:t>From War to Talks:</a:t>
            </a:r>
            <a:br>
              <a:rPr lang="en-US" sz="3700" noProof="0">
                <a:solidFill>
                  <a:schemeClr val="bg1"/>
                </a:solidFill>
              </a:rPr>
            </a:br>
            <a:r>
              <a:rPr lang="en-US" sz="3700" noProof="0">
                <a:solidFill>
                  <a:schemeClr val="bg1"/>
                </a:solidFill>
              </a:rPr>
              <a:t>influence of local negotiation tables on war related violence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C3015-5760-E33D-7870-49CD8EEFA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noProof="0">
                <a:solidFill>
                  <a:schemeClr val="bg1"/>
                </a:solidFill>
              </a:rPr>
              <a:t>Daniel Navarro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398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F7A4B-3E62-9BEC-4905-7728D8CF1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s-MX">
                <a:solidFill>
                  <a:schemeClr val="bg1"/>
                </a:solidFill>
              </a:rPr>
              <a:t>Context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C337C-8D9B-865E-1FF2-8CA4F186D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Colombia has a problem with an ongoing rebel war and armed groups expanding their presence and violence escalating.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Current government implemented the 'Total Peace' policy, pursuing simultaneous negotiations with various armed groups.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Qualitative research concludes that the impact of these talks on local conflict dynamics is complex and heterogeneous (Johnson et al., 2025).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This research quantitatively analyzes the effect of peace talks on a wider range of conflict-related events in three municipalities to contrast results with qualitative research.</a:t>
            </a:r>
            <a:endParaRPr lang="es-MX" sz="20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3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Los retos de la “paz total” | EL PAÍS América Colombia">
            <a:extLst>
              <a:ext uri="{FF2B5EF4-FFF2-40B4-BE49-F238E27FC236}">
                <a16:creationId xmlns:a16="http://schemas.microsoft.com/office/drawing/2014/main" id="{0E855AC0-05B7-1ADB-CD09-32E2BC138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27" b="1504"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982E07-E4F9-BF00-5BDA-E64F67E5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US" sz="5000" noProof="0" dirty="0">
                <a:solidFill>
                  <a:schemeClr val="bg1"/>
                </a:solidFill>
              </a:rPr>
              <a:t>Research question: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37238-F98E-DC38-5D0D-D0C63AF00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r>
              <a:rPr lang="es-MX" sz="1800" dirty="0" err="1">
                <a:solidFill>
                  <a:schemeClr val="bg1"/>
                </a:solidFill>
              </a:rPr>
              <a:t>Within</a:t>
            </a:r>
            <a:r>
              <a:rPr lang="es-MX" sz="1800" dirty="0">
                <a:solidFill>
                  <a:schemeClr val="bg1"/>
                </a:solidFill>
              </a:rPr>
              <a:t> Buenaventura, Arauca, and Tumaco </a:t>
            </a:r>
            <a:r>
              <a:rPr lang="es-MX" sz="1800" dirty="0" err="1">
                <a:solidFill>
                  <a:schemeClr val="bg1"/>
                </a:solidFill>
              </a:rPr>
              <a:t>where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peace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talks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were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initiated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under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Petro's</a:t>
            </a:r>
            <a:r>
              <a:rPr lang="es-MX" sz="1800" dirty="0">
                <a:solidFill>
                  <a:schemeClr val="bg1"/>
                </a:solidFill>
              </a:rPr>
              <a:t> 'Total </a:t>
            </a:r>
            <a:r>
              <a:rPr lang="es-MX" sz="1800" dirty="0" err="1">
                <a:solidFill>
                  <a:schemeClr val="bg1"/>
                </a:solidFill>
              </a:rPr>
              <a:t>Peace</a:t>
            </a:r>
            <a:r>
              <a:rPr lang="es-MX" sz="1800" dirty="0">
                <a:solidFill>
                  <a:schemeClr val="bg1"/>
                </a:solidFill>
              </a:rPr>
              <a:t>' </a:t>
            </a:r>
            <a:r>
              <a:rPr lang="es-MX" sz="1800" dirty="0" err="1">
                <a:solidFill>
                  <a:schemeClr val="bg1"/>
                </a:solidFill>
              </a:rPr>
              <a:t>policy</a:t>
            </a:r>
            <a:r>
              <a:rPr lang="es-MX" sz="1800" dirty="0">
                <a:solidFill>
                  <a:schemeClr val="bg1"/>
                </a:solidFill>
              </a:rPr>
              <a:t>, </a:t>
            </a:r>
            <a:r>
              <a:rPr lang="es-MX" sz="1800" dirty="0" err="1">
                <a:solidFill>
                  <a:schemeClr val="bg1"/>
                </a:solidFill>
              </a:rPr>
              <a:t>what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is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the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association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between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the</a:t>
            </a:r>
            <a:r>
              <a:rPr lang="es-MX" sz="1800" dirty="0">
                <a:solidFill>
                  <a:schemeClr val="bg1"/>
                </a:solidFill>
              </a:rPr>
              <a:t> timing </a:t>
            </a:r>
            <a:r>
              <a:rPr lang="es-MX" sz="1800" dirty="0" err="1">
                <a:solidFill>
                  <a:schemeClr val="bg1"/>
                </a:solidFill>
              </a:rPr>
              <a:t>of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those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talks</a:t>
            </a:r>
            <a:r>
              <a:rPr lang="es-MX" sz="1800" dirty="0">
                <a:solidFill>
                  <a:schemeClr val="bg1"/>
                </a:solidFill>
              </a:rPr>
              <a:t> and </a:t>
            </a:r>
            <a:r>
              <a:rPr lang="es-MX" sz="1800" dirty="0" err="1">
                <a:solidFill>
                  <a:schemeClr val="bg1"/>
                </a:solidFill>
              </a:rPr>
              <a:t>the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monthly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incidence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of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conflict-related</a:t>
            </a:r>
            <a:r>
              <a:rPr lang="es-MX" sz="1800" dirty="0">
                <a:solidFill>
                  <a:schemeClr val="bg1"/>
                </a:solidFill>
              </a:rPr>
              <a:t> </a:t>
            </a:r>
            <a:r>
              <a:rPr lang="es-MX" sz="1800" dirty="0" err="1">
                <a:solidFill>
                  <a:schemeClr val="bg1"/>
                </a:solidFill>
              </a:rPr>
              <a:t>events</a:t>
            </a:r>
            <a:r>
              <a:rPr lang="es-MX" sz="1800" dirty="0">
                <a:solidFill>
                  <a:schemeClr val="bg1"/>
                </a:solidFill>
              </a:rPr>
              <a:t>?</a:t>
            </a:r>
          </a:p>
          <a:p>
            <a:r>
              <a:rPr lang="en-US" sz="1800" b="1" dirty="0">
                <a:solidFill>
                  <a:schemeClr val="bg1"/>
                </a:solidFill>
              </a:rPr>
              <a:t>Null Hypothesis (H0):</a:t>
            </a:r>
            <a:r>
              <a:rPr lang="en-US" sz="1800" dirty="0">
                <a:solidFill>
                  <a:schemeClr val="bg1"/>
                </a:solidFill>
              </a:rPr>
              <a:t> The initiation of peace talks in a municipality has no statistically significant association with the monthly frequency of specific conflict-related events within that municipality.</a:t>
            </a:r>
            <a:endParaRPr lang="en-US" sz="1800" noProof="0" dirty="0">
              <a:solidFill>
                <a:schemeClr val="bg1"/>
              </a:solidFill>
            </a:endParaRPr>
          </a:p>
          <a:p>
            <a:endParaRPr lang="en-US" sz="13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607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CBFA2-4D38-28F0-905A-83BEECDBA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05440-710B-6C48-53E0-AD9F9EF5B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007" y="93911"/>
            <a:ext cx="3404420" cy="805766"/>
          </a:xfrm>
        </p:spPr>
        <p:txBody>
          <a:bodyPr/>
          <a:lstStyle/>
          <a:p>
            <a:r>
              <a:rPr lang="en-US" b="1" noProof="0" dirty="0">
                <a:solidFill>
                  <a:schemeClr val="bg1"/>
                </a:solidFill>
              </a:rPr>
              <a:t>Causal graph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92ADD5-1C8C-341B-4944-9328C52D422C}"/>
              </a:ext>
            </a:extLst>
          </p:cNvPr>
          <p:cNvSpPr/>
          <p:nvPr/>
        </p:nvSpPr>
        <p:spPr>
          <a:xfrm>
            <a:off x="1374597" y="541977"/>
            <a:ext cx="2408495" cy="1478859"/>
          </a:xfrm>
          <a:prstGeom prst="ellipse">
            <a:avLst/>
          </a:prstGeom>
          <a:ln w="762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noProof="0" dirty="0"/>
              <a:t>Peace Talks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9609409-77F5-76FA-414C-A32486FFBEE5}"/>
              </a:ext>
            </a:extLst>
          </p:cNvPr>
          <p:cNvSpPr/>
          <p:nvPr/>
        </p:nvSpPr>
        <p:spPr>
          <a:xfrm>
            <a:off x="6885575" y="541346"/>
            <a:ext cx="3277338" cy="1478859"/>
          </a:xfrm>
          <a:prstGeom prst="ellipse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Output:</a:t>
            </a:r>
          </a:p>
          <a:p>
            <a:pPr algn="ctr"/>
            <a:r>
              <a:rPr lang="en-US" sz="2400" noProof="0" dirty="0"/>
              <a:t>Observed War related crimes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FE43FB-4967-4095-93C2-78ACA18A97CD}"/>
              </a:ext>
            </a:extLst>
          </p:cNvPr>
          <p:cNvSpPr/>
          <p:nvPr/>
        </p:nvSpPr>
        <p:spPr>
          <a:xfrm>
            <a:off x="3954881" y="2219225"/>
            <a:ext cx="2817773" cy="1478861"/>
          </a:xfrm>
          <a:prstGeom prst="ellipse">
            <a:avLst/>
          </a:prstGeom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Territorial Control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B9A37C2-461D-9548-D29D-05EA0D866157}"/>
              </a:ext>
            </a:extLst>
          </p:cNvPr>
          <p:cNvCxnSpPr>
            <a:cxnSpLocks/>
            <a:stCxn id="11" idx="7"/>
            <a:endCxn id="5" idx="3"/>
          </p:cNvCxnSpPr>
          <p:nvPr/>
        </p:nvCxnSpPr>
        <p:spPr>
          <a:xfrm flipV="1">
            <a:off x="6360001" y="1803631"/>
            <a:ext cx="1005529" cy="63216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EC566A0-ACBD-958D-C658-759CE409CDA9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3783092" y="1280776"/>
            <a:ext cx="3102483" cy="63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C1E2452D-D985-CFAA-6DA1-50D2115383B0}"/>
              </a:ext>
            </a:extLst>
          </p:cNvPr>
          <p:cNvSpPr/>
          <p:nvPr/>
        </p:nvSpPr>
        <p:spPr>
          <a:xfrm>
            <a:off x="1327845" y="3860016"/>
            <a:ext cx="2501998" cy="1478861"/>
          </a:xfrm>
          <a:prstGeom prst="ellipse">
            <a:avLst/>
          </a:prstGeom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Armed group income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4C51628-5289-3898-1473-A4725C4F6349}"/>
              </a:ext>
            </a:extLst>
          </p:cNvPr>
          <p:cNvCxnSpPr>
            <a:cxnSpLocks/>
            <a:stCxn id="77" idx="7"/>
            <a:endCxn id="11" idx="3"/>
          </p:cNvCxnSpPr>
          <p:nvPr/>
        </p:nvCxnSpPr>
        <p:spPr>
          <a:xfrm flipV="1">
            <a:off x="3463434" y="3481512"/>
            <a:ext cx="904100" cy="59507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BCAADBC7-80C9-9824-635C-1581E54BF447}"/>
              </a:ext>
            </a:extLst>
          </p:cNvPr>
          <p:cNvSpPr/>
          <p:nvPr/>
        </p:nvSpPr>
        <p:spPr>
          <a:xfrm>
            <a:off x="4045471" y="4383136"/>
            <a:ext cx="2636591" cy="1478861"/>
          </a:xfrm>
          <a:prstGeom prst="ellipse">
            <a:avLst/>
          </a:prstGeom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noProof="0" dirty="0"/>
              <a:t>Strength of local institutions 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0F22B24-15BC-10FE-4665-66FDDA46F464}"/>
              </a:ext>
            </a:extLst>
          </p:cNvPr>
          <p:cNvCxnSpPr>
            <a:cxnSpLocks/>
            <a:stCxn id="120" idx="0"/>
            <a:endCxn id="11" idx="4"/>
          </p:cNvCxnSpPr>
          <p:nvPr/>
        </p:nvCxnSpPr>
        <p:spPr>
          <a:xfrm flipV="1">
            <a:off x="5363767" y="3698086"/>
            <a:ext cx="1" cy="68505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95F9CC04-3DE1-DD34-A099-C6189E855C23}"/>
              </a:ext>
            </a:extLst>
          </p:cNvPr>
          <p:cNvSpPr/>
          <p:nvPr/>
        </p:nvSpPr>
        <p:spPr>
          <a:xfrm>
            <a:off x="7358573" y="3860015"/>
            <a:ext cx="2331342" cy="1478861"/>
          </a:xfrm>
          <a:prstGeom prst="ellipse">
            <a:avLst/>
          </a:prstGeom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Clashes</a:t>
            </a:r>
            <a:endParaRPr lang="en-US" sz="2400" b="1" noProof="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0AF1F3E-37A3-9CE7-8E16-FBA2A54CF648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8524244" y="2020205"/>
            <a:ext cx="0" cy="183981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4DF7A1-2B68-4EE8-C51F-3D47FEDEBD41}"/>
              </a:ext>
            </a:extLst>
          </p:cNvPr>
          <p:cNvCxnSpPr>
            <a:cxnSpLocks/>
            <a:stCxn id="6" idx="1"/>
            <a:endCxn id="11" idx="5"/>
          </p:cNvCxnSpPr>
          <p:nvPr/>
        </p:nvCxnSpPr>
        <p:spPr>
          <a:xfrm flipH="1" flipV="1">
            <a:off x="6360001" y="3481512"/>
            <a:ext cx="1339989" cy="59507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908483-A70B-F6EE-44E5-A3D8A345CDCE}"/>
              </a:ext>
            </a:extLst>
          </p:cNvPr>
          <p:cNvCxnSpPr>
            <a:cxnSpLocks/>
            <a:stCxn id="4" idx="5"/>
            <a:endCxn id="11" idx="1"/>
          </p:cNvCxnSpPr>
          <p:nvPr/>
        </p:nvCxnSpPr>
        <p:spPr>
          <a:xfrm>
            <a:off x="3430376" y="1804262"/>
            <a:ext cx="937158" cy="63153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89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5" name="Rectangle 617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6177" name="Straight Connector 6176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9" name="Straight Connector 6178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6" descr="Patrulleros del EGC fotografiados en 2023. ">
            <a:extLst>
              <a:ext uri="{FF2B5EF4-FFF2-40B4-BE49-F238E27FC236}">
                <a16:creationId xmlns:a16="http://schemas.microsoft.com/office/drawing/2014/main" id="{679BA560-7C12-3978-A2C0-CABF75CFDA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38250" y="695325"/>
            <a:ext cx="9715500" cy="546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6154" name="Picture 10" descr="Trump quiere declarar al Clan del Golfo como grupo terrorista | EL PAÍS  América Colombia">
            <a:extLst>
              <a:ext uri="{FF2B5EF4-FFF2-40B4-BE49-F238E27FC236}">
                <a16:creationId xmlns:a16="http://schemas.microsoft.com/office/drawing/2014/main" id="{6CB49267-257B-004A-CDF4-522A6DA1A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48" b="4482"/>
          <a:stretch>
            <a:fillRect/>
          </a:stretch>
        </p:blipFill>
        <p:spPr bwMode="auto">
          <a:xfrm>
            <a:off x="43" y="0"/>
            <a:ext cx="121919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EB6478B-C38F-33CF-4AE3-45A321D633C6}"/>
              </a:ext>
            </a:extLst>
          </p:cNvPr>
          <p:cNvSpPr/>
          <p:nvPr/>
        </p:nvSpPr>
        <p:spPr>
          <a:xfrm>
            <a:off x="-152400" y="0"/>
            <a:ext cx="12496800" cy="7254240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62ABB-4C61-FDD7-F89B-44324DE52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7951839" cy="773382"/>
          </a:xfrm>
        </p:spPr>
        <p:txBody>
          <a:bodyPr anchor="b">
            <a:normAutofit/>
          </a:bodyPr>
          <a:lstStyle/>
          <a:p>
            <a:r>
              <a:rPr lang="es-MX" sz="3800" b="1" dirty="0" err="1">
                <a:solidFill>
                  <a:schemeClr val="bg1"/>
                </a:solidFill>
              </a:rPr>
              <a:t>Research</a:t>
            </a:r>
            <a:r>
              <a:rPr lang="es-MX" sz="3800" b="1" dirty="0">
                <a:solidFill>
                  <a:schemeClr val="bg1"/>
                </a:solidFill>
              </a:rPr>
              <a:t> </a:t>
            </a:r>
            <a:r>
              <a:rPr lang="es-MX" sz="3800" b="1" dirty="0" err="1">
                <a:solidFill>
                  <a:schemeClr val="bg1"/>
                </a:solidFill>
              </a:rPr>
              <a:t>Design</a:t>
            </a:r>
            <a:endParaRPr lang="es-MX" sz="3800" b="1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A89A99-0613-2159-A51A-63137F96D6AB}"/>
              </a:ext>
            </a:extLst>
          </p:cNvPr>
          <p:cNvCxnSpPr/>
          <p:nvPr/>
        </p:nvCxnSpPr>
        <p:spPr>
          <a:xfrm>
            <a:off x="-481781" y="1406013"/>
            <a:ext cx="1168072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546E0D-6811-3493-36A4-6B3189758B2F}"/>
              </a:ext>
            </a:extLst>
          </p:cNvPr>
          <p:cNvCxnSpPr/>
          <p:nvPr/>
        </p:nvCxnSpPr>
        <p:spPr>
          <a:xfrm>
            <a:off x="-329381" y="6445045"/>
            <a:ext cx="1168072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EFE6D5-C7A5-91AC-51F9-C82803148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373" y="1765839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US" sz="2400" b="1" dirty="0">
                <a:solidFill>
                  <a:schemeClr val="bg1"/>
                </a:solidFill>
              </a:rPr>
              <a:t>Peace Talks </a:t>
            </a:r>
            <a:r>
              <a:rPr lang="en-US" sz="2400" dirty="0">
                <a:solidFill>
                  <a:schemeClr val="bg1"/>
                </a:solidFill>
              </a:rPr>
              <a:t>are initiated from government initiative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</a:rPr>
              <a:t>Observed war related crimes </a:t>
            </a:r>
            <a:r>
              <a:rPr lang="en-US" sz="2400" dirty="0">
                <a:solidFill>
                  <a:schemeClr val="bg1"/>
                </a:solidFill>
              </a:rPr>
              <a:t>are dependent from conflicts with other groups, fights for control and terrorism.</a:t>
            </a:r>
          </a:p>
          <a:p>
            <a:pPr lvl="0"/>
            <a:endParaRPr lang="en-US" sz="2400" dirty="0">
              <a:solidFill>
                <a:schemeClr val="bg1"/>
              </a:solidFill>
            </a:endParaRPr>
          </a:p>
          <a:p>
            <a:pPr lvl="0"/>
            <a:r>
              <a:rPr lang="es-MX" sz="2400" b="1" dirty="0">
                <a:solidFill>
                  <a:schemeClr val="bg1"/>
                </a:solidFill>
              </a:rPr>
              <a:t>Clash </a:t>
            </a:r>
            <a:r>
              <a:rPr lang="es-MX" sz="2400" b="1" dirty="0" err="1">
                <a:solidFill>
                  <a:schemeClr val="bg1"/>
                </a:solidFill>
              </a:rPr>
              <a:t>Dummy</a:t>
            </a:r>
            <a:r>
              <a:rPr lang="es-MX" sz="2400" b="1" dirty="0">
                <a:solidFill>
                  <a:schemeClr val="bg1"/>
                </a:solidFill>
              </a:rPr>
              <a:t> – </a:t>
            </a:r>
            <a:r>
              <a:rPr lang="es-MX" sz="2400" b="1" dirty="0" err="1">
                <a:solidFill>
                  <a:schemeClr val="bg1"/>
                </a:solidFill>
              </a:rPr>
              <a:t>Ags</a:t>
            </a:r>
            <a:r>
              <a:rPr lang="es-MX" sz="2400" b="1" dirty="0">
                <a:solidFill>
                  <a:schemeClr val="bg1"/>
                </a:solidFill>
              </a:rPr>
              <a:t> are </a:t>
            </a:r>
            <a:r>
              <a:rPr lang="es-MX" sz="2400" b="1" dirty="0" err="1">
                <a:solidFill>
                  <a:schemeClr val="bg1"/>
                </a:solidFill>
              </a:rPr>
              <a:t>fighting</a:t>
            </a:r>
            <a:r>
              <a:rPr lang="es-MX" sz="2400" b="1" dirty="0">
                <a:solidFill>
                  <a:schemeClr val="bg1"/>
                </a:solidFill>
              </a:rPr>
              <a:t> </a:t>
            </a:r>
            <a:r>
              <a:rPr lang="es-MX" sz="2400" b="1" dirty="0" err="1">
                <a:solidFill>
                  <a:schemeClr val="bg1"/>
                </a:solidFill>
              </a:rPr>
              <a:t>each</a:t>
            </a:r>
            <a:r>
              <a:rPr lang="es-MX" sz="2400" b="1" dirty="0">
                <a:solidFill>
                  <a:schemeClr val="bg1"/>
                </a:solidFill>
              </a:rPr>
              <a:t> </a:t>
            </a:r>
            <a:r>
              <a:rPr lang="es-MX" sz="2400" b="1" dirty="0" err="1">
                <a:solidFill>
                  <a:schemeClr val="bg1"/>
                </a:solidFill>
              </a:rPr>
              <a:t>other</a:t>
            </a:r>
            <a:endParaRPr lang="es-MX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737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9856C-FE95-E496-CD7C-65DB7669A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3005894-4A61-9CE4-1B50-2B1C1C672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FA7EE-FF7D-8B7D-1D22-760FCE04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s-MX" dirty="0">
                <a:solidFill>
                  <a:schemeClr val="bg1"/>
                </a:solidFill>
              </a:rPr>
              <a:t>TWFE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97C621-F10D-CDEB-076B-343AC1458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02235-CA6C-0780-69A9-83A93EEE4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3359149"/>
            <a:ext cx="9406666" cy="2775501"/>
          </a:xfrm>
        </p:spPr>
        <p:txBody>
          <a:bodyPr>
            <a:norm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</a:rPr>
              <a:t>Municipality fixed effects</a:t>
            </a:r>
            <a:r>
              <a:rPr lang="en-US" sz="2000" dirty="0">
                <a:solidFill>
                  <a:schemeClr val="bg1"/>
                </a:solidFill>
              </a:rPr>
              <a:t> (</a:t>
            </a:r>
            <a:r>
              <a:rPr lang="en-US" sz="2000" dirty="0" err="1">
                <a:solidFill>
                  <a:schemeClr val="bg1"/>
                </a:solidFill>
              </a:rPr>
              <a:t>alpha_i</a:t>
            </a:r>
            <a:r>
              <a:rPr lang="en-US" sz="2000" dirty="0">
                <a:solidFill>
                  <a:schemeClr val="bg1"/>
                </a:solidFill>
              </a:rPr>
              <a:t>), </a:t>
            </a:r>
            <a:r>
              <a:rPr lang="en-US" sz="2000" dirty="0" err="1">
                <a:solidFill>
                  <a:schemeClr val="bg1"/>
                </a:solidFill>
              </a:rPr>
              <a:t>absorbes</a:t>
            </a:r>
            <a:r>
              <a:rPr lang="en-US" sz="2000" dirty="0">
                <a:solidFill>
                  <a:schemeClr val="bg1"/>
                </a:solidFill>
              </a:rPr>
              <a:t> all time-invariant characteristics including institutional quality, historical armed group presence, geography, and social structure (Arjona, 2016; Masullo, 2020)</a:t>
            </a:r>
            <a:endParaRPr lang="es-MX" sz="2000" dirty="0">
              <a:solidFill>
                <a:schemeClr val="bg1"/>
              </a:solidFill>
            </a:endParaRPr>
          </a:p>
          <a:p>
            <a:pPr lvl="0"/>
            <a:r>
              <a:rPr lang="en-US" sz="2000" b="1" dirty="0">
                <a:solidFill>
                  <a:schemeClr val="bg1"/>
                </a:solidFill>
              </a:rPr>
              <a:t>Month fixed effects</a:t>
            </a:r>
            <a:r>
              <a:rPr lang="en-US" sz="2000" dirty="0">
                <a:solidFill>
                  <a:schemeClr val="bg1"/>
                </a:solidFill>
              </a:rPr>
              <a:t> (</a:t>
            </a:r>
            <a:r>
              <a:rPr lang="en-US" sz="2000" dirty="0" err="1">
                <a:solidFill>
                  <a:schemeClr val="bg1"/>
                </a:solidFill>
              </a:rPr>
              <a:t>lambda_t</a:t>
            </a:r>
            <a:r>
              <a:rPr lang="en-US" sz="2000" dirty="0">
                <a:solidFill>
                  <a:schemeClr val="bg1"/>
                </a:solidFill>
              </a:rPr>
              <a:t>), absorbing all common time shocks including national policy changes, military strategy shifts, and seasonal patterns.</a:t>
            </a:r>
            <a:endParaRPr lang="es-MX" sz="2000" dirty="0">
              <a:solidFill>
                <a:schemeClr val="bg1"/>
              </a:solidFill>
            </a:endParaRPr>
          </a:p>
          <a:p>
            <a:pPr lvl="0"/>
            <a:r>
              <a:rPr lang="en-US" sz="2000" b="1" dirty="0">
                <a:solidFill>
                  <a:schemeClr val="bg1"/>
                </a:solidFill>
              </a:rPr>
              <a:t>Time-varying controls</a:t>
            </a:r>
            <a:r>
              <a:rPr lang="en-US" sz="2000" dirty="0">
                <a:solidFill>
                  <a:schemeClr val="bg1"/>
                </a:solidFill>
              </a:rPr>
              <a:t> for exogenous income shocks (global gold, oil, and cocaine prices) that affect group strength but are plausibly uncorrelated with local peace talk timing.</a:t>
            </a:r>
            <a:endParaRPr lang="es-MX" sz="20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19AD1A-B0BF-A3FB-D346-4B607837F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539019-E9D1-ADC7-0D0D-C064A0F40993}"/>
                  </a:ext>
                </a:extLst>
              </p:cNvPr>
              <p:cNvSpPr txBox="1"/>
              <p:nvPr/>
            </p:nvSpPr>
            <p:spPr>
              <a:xfrm>
                <a:off x="1612900" y="2292560"/>
                <a:ext cx="8763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𝑉𝑖𝑜𝑙𝑒𝑛𝑐</m:t>
                      </m:r>
                      <m:sSub>
                        <m:sSubPr>
                          <m:ctrlP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s-MX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MX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MX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s-MX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𝑇𝑟𝑒𝑎𝑡𝑚𝑒𝑛</m:t>
                      </m:r>
                      <m:sSub>
                        <m:sSubPr>
                          <m:ctrlP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s-MX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s-MX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𝐶𝑙𝑎</m:t>
                      </m:r>
                      <m:sSub>
                        <m:sSubPr>
                          <m:ctrlP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𝑠h</m:t>
                          </m:r>
                        </m:e>
                        <m:sub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s-MX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s-MX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s-MX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539019-E9D1-ADC7-0D0D-C064A0F40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900" y="2292560"/>
                <a:ext cx="87630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41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5420B-9831-FBCF-D8C9-EE7D3C11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6DE83A9-AC50-21E8-BE4A-102818C5B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E7162-DF86-D44E-BEB2-E812DE32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Assumptions</a:t>
            </a:r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656AC7-CD32-3C86-D37D-C837901EF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77E09-228B-123A-E13A-FABD2596C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43151"/>
            <a:ext cx="9406666" cy="37915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Strict exogeneity:</a:t>
            </a:r>
            <a:r>
              <a:rPr lang="en-US" dirty="0">
                <a:solidFill>
                  <a:schemeClr val="bg1"/>
                </a:solidFill>
              </a:rPr>
              <a:t> the error term is uncorrelated with the entire history, present, and future of the explanatory variables. </a:t>
            </a:r>
            <a:endParaRPr lang="es-MX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No carryover effects:</a:t>
            </a:r>
            <a:r>
              <a:rPr lang="en-US" dirty="0">
                <a:solidFill>
                  <a:schemeClr val="bg1"/>
                </a:solidFill>
              </a:rPr>
              <a:t> Treatment effects don't persist indefinitely in ways that bias estimates, so after removing municipality-specific intercepts and common time shocks, the remaining variation in treatment is as good as random.</a:t>
            </a:r>
            <a:endParaRPr lang="es-MX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Linear additive effects:</a:t>
            </a:r>
            <a:r>
              <a:rPr lang="en-US" dirty="0">
                <a:solidFill>
                  <a:schemeClr val="bg1"/>
                </a:solidFill>
              </a:rPr>
              <a:t> The effect of treatment adds linearly to the baseline.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319455-C556-BCD9-39CD-C49AC740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4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9EC1E4-CFF4-394C-1F9B-CA44ACF0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8815249-82B6-1B93-CF2F-4E749CBF1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D40F2-F97B-1E45-BA72-D62E41339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Plausibility </a:t>
            </a:r>
            <a:endParaRPr lang="es-MX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F3F1E8-8E47-AAB7-5DF9-C8D058F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491C-75DF-E8C5-E8A3-121D44AAD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43151"/>
            <a:ext cx="9406666" cy="37915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Strict exogeneity:</a:t>
            </a:r>
            <a:r>
              <a:rPr lang="en-US" dirty="0">
                <a:solidFill>
                  <a:schemeClr val="bg1"/>
                </a:solidFill>
              </a:rPr>
              <a:t> Qualitative evidence shows that treatment timing is driven factors that are absorbed by fixed effects.</a:t>
            </a:r>
          </a:p>
          <a:p>
            <a:r>
              <a:rPr lang="en-US" b="1" dirty="0">
                <a:solidFill>
                  <a:schemeClr val="bg1"/>
                </a:solidFill>
              </a:rPr>
              <a:t>No carryover effects:</a:t>
            </a:r>
            <a:r>
              <a:rPr lang="en-US" dirty="0">
                <a:solidFill>
                  <a:schemeClr val="bg1"/>
                </a:solidFill>
              </a:rPr>
              <a:t> No peace talks have concluded in a ceasefire. There should not be an effect after the treatment</a:t>
            </a:r>
          </a:p>
          <a:p>
            <a:r>
              <a:rPr lang="en-US" b="1" dirty="0">
                <a:solidFill>
                  <a:schemeClr val="bg1"/>
                </a:solidFill>
              </a:rPr>
              <a:t>Linear additive effects:</a:t>
            </a:r>
            <a:r>
              <a:rPr lang="en-US" dirty="0">
                <a:solidFill>
                  <a:schemeClr val="bg1"/>
                </a:solidFill>
              </a:rPr>
              <a:t> Municipality and month fixed effects absorb all time-invariant municipality characteristics (institutions, geography, historical armed presence) and common time shocks.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D3F8D9-294E-88C1-1A19-36CA6A590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22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AAF91-B348-5C24-8779-19C8FE4B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21226"/>
            <a:ext cx="11464412" cy="539443"/>
          </a:xfrm>
        </p:spPr>
        <p:txBody>
          <a:bodyPr/>
          <a:lstStyle/>
          <a:p>
            <a:r>
              <a:rPr lang="es-MX" sz="2400" b="1" dirty="0" err="1"/>
              <a:t>Bibliography</a:t>
            </a:r>
            <a:endParaRPr lang="es-MX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706F7-0B47-E1AB-75DF-B90B436CD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1" y="760669"/>
            <a:ext cx="11464412" cy="573220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/>
              <a:t>Arjona, Ana. "Institutions, civilian resistance, and wartime social order: a process-driven natural experiment in the Colombian Civil War." </a:t>
            </a:r>
            <a:r>
              <a:rPr lang="en-US" sz="1200" i="1" dirty="0"/>
              <a:t>Latin American Politics and Society </a:t>
            </a:r>
            <a:r>
              <a:rPr lang="en-US" sz="1200" dirty="0"/>
              <a:t>58, no. 3 (2016): </a:t>
            </a:r>
            <a:r>
              <a:rPr lang="es-MX" sz="1200" dirty="0"/>
              <a:t>99-122.</a:t>
            </a:r>
          </a:p>
          <a:p>
            <a:pPr marL="0" indent="0">
              <a:buNone/>
            </a:pPr>
            <a:r>
              <a:rPr lang="en-US" sz="1200" dirty="0"/>
              <a:t>Acemoglu, Daron, James A. Robinson, and Rafael J. Santos. "The monopoly of violence: Evidence from Colombia." </a:t>
            </a:r>
            <a:r>
              <a:rPr lang="en-US" sz="1200" i="1" dirty="0"/>
              <a:t>Journal of the European Economic Association </a:t>
            </a:r>
            <a:r>
              <a:rPr lang="en-US" sz="1200" dirty="0"/>
              <a:t>11, no. s1 (2013): 5-44.</a:t>
            </a:r>
          </a:p>
          <a:p>
            <a:pPr marL="0" indent="0">
              <a:buNone/>
            </a:pPr>
            <a:r>
              <a:rPr lang="es-MX" sz="1200" dirty="0"/>
              <a:t>Mauricio, Romero. </a:t>
            </a:r>
            <a:r>
              <a:rPr lang="es-MX" sz="1200" i="1" dirty="0"/>
              <a:t>Paramilitares y autodefensas 1982-2003</a:t>
            </a:r>
            <a:r>
              <a:rPr lang="es-MX" sz="1200" dirty="0"/>
              <a:t>. Bogotá: Editorial Planeta SA (2003).</a:t>
            </a:r>
          </a:p>
          <a:p>
            <a:pPr marL="0" indent="0">
              <a:buNone/>
            </a:pPr>
            <a:r>
              <a:rPr lang="es-MX" sz="1200" dirty="0" err="1"/>
              <a:t>Krakowski</a:t>
            </a:r>
            <a:r>
              <a:rPr lang="es-MX" sz="1200" dirty="0"/>
              <a:t>, </a:t>
            </a:r>
            <a:r>
              <a:rPr lang="es-MX" sz="1200" dirty="0" err="1"/>
              <a:t>Krzysztof</a:t>
            </a:r>
            <a:r>
              <a:rPr lang="es-MX" sz="1200" dirty="0"/>
              <a:t>. "</a:t>
            </a:r>
            <a:r>
              <a:rPr lang="es-MX" sz="1200" dirty="0" err="1"/>
              <a:t>Colombian</a:t>
            </a:r>
            <a:r>
              <a:rPr lang="es-MX" sz="1200" dirty="0"/>
              <a:t> </a:t>
            </a:r>
            <a:r>
              <a:rPr lang="es-MX" sz="1200" dirty="0" err="1"/>
              <a:t>paramilitaries</a:t>
            </a:r>
            <a:r>
              <a:rPr lang="es-MX" sz="1200" dirty="0"/>
              <a:t> </a:t>
            </a:r>
            <a:r>
              <a:rPr lang="es-MX" sz="1200" dirty="0" err="1"/>
              <a:t>since</a:t>
            </a:r>
            <a:r>
              <a:rPr lang="es-MX" sz="1200" dirty="0"/>
              <a:t> </a:t>
            </a:r>
            <a:r>
              <a:rPr lang="es-MX" sz="1200" dirty="0" err="1"/>
              <a:t>demobilization</a:t>
            </a:r>
            <a:r>
              <a:rPr lang="es-MX" sz="1200" dirty="0"/>
              <a:t>: Between </a:t>
            </a:r>
            <a:r>
              <a:rPr lang="es-MX" sz="1200" dirty="0" err="1"/>
              <a:t>state</a:t>
            </a:r>
            <a:r>
              <a:rPr lang="es-MX" sz="1200" dirty="0"/>
              <a:t> </a:t>
            </a:r>
            <a:r>
              <a:rPr lang="es-MX" sz="1200" dirty="0" err="1"/>
              <a:t>crackdown</a:t>
            </a:r>
            <a:r>
              <a:rPr lang="es-MX" sz="1200" dirty="0"/>
              <a:t> </a:t>
            </a:r>
            <a:r>
              <a:rPr lang="en-US" sz="1200" dirty="0"/>
              <a:t>and increased violence." </a:t>
            </a:r>
            <a:r>
              <a:rPr lang="en-US" sz="1200" i="1" dirty="0"/>
              <a:t>Latin American Politics and Society </a:t>
            </a:r>
            <a:r>
              <a:rPr lang="en-US" sz="1200" dirty="0"/>
              <a:t>57, no. 4 (2015): 28-50.</a:t>
            </a:r>
          </a:p>
          <a:p>
            <a:pPr marL="0" indent="0">
              <a:buNone/>
            </a:pPr>
            <a:r>
              <a:rPr lang="es-MX" sz="1200" dirty="0" err="1"/>
              <a:t>Pécaut</a:t>
            </a:r>
            <a:r>
              <a:rPr lang="es-MX" sz="1200" dirty="0"/>
              <a:t>, Daniel. "Las FARC: fuentes de su longevidad y de la conservación de su cohesión.“ Análisis político 63 (2008): 22-50.</a:t>
            </a:r>
          </a:p>
          <a:p>
            <a:pPr marL="0" indent="0">
              <a:buNone/>
            </a:pPr>
            <a:r>
              <a:rPr lang="es-MX" sz="1200" dirty="0"/>
              <a:t>Aguilera Peña, Mario. "ELN: entre las armas y la política." IEPRI Nuestra Guerra Sin Nombre. Transformaciones del conflicto en Colombia. Bogotá: Editorial Norma (2006).</a:t>
            </a:r>
          </a:p>
          <a:p>
            <a:pPr marL="0" indent="0">
              <a:buNone/>
            </a:pPr>
            <a:r>
              <a:rPr lang="en-US" sz="1200" dirty="0"/>
              <a:t>Steele, Abbey. "Electing Displacement: Political Cleansing in </a:t>
            </a:r>
            <a:r>
              <a:rPr lang="en-US" sz="1200" dirty="0" err="1"/>
              <a:t>Apartadó</a:t>
            </a:r>
            <a:r>
              <a:rPr lang="en-US" sz="1200" dirty="0"/>
              <a:t>, Colombia." </a:t>
            </a:r>
            <a:r>
              <a:rPr lang="en-US" sz="1200" i="1" dirty="0"/>
              <a:t>Journal of Conflict Resolution </a:t>
            </a:r>
            <a:r>
              <a:rPr lang="en-US" sz="1200" dirty="0"/>
              <a:t>55, no. 3 (2011): 423-445.</a:t>
            </a:r>
          </a:p>
          <a:p>
            <a:pPr marL="0" indent="0">
              <a:buNone/>
            </a:pPr>
            <a:r>
              <a:rPr lang="en-US" sz="1200" dirty="0"/>
              <a:t>Grajales, Jacobo. "The rifle and the title: paramilitary violence, land grab and land control in Colombia." </a:t>
            </a:r>
            <a:r>
              <a:rPr lang="en-US" sz="1200" i="1" dirty="0"/>
              <a:t>Journal of Peasant Studies </a:t>
            </a:r>
            <a:r>
              <a:rPr lang="en-US" sz="1200" dirty="0"/>
              <a:t>38, no. 4 (2011): 771-792.</a:t>
            </a:r>
          </a:p>
          <a:p>
            <a:pPr marL="0" indent="0">
              <a:buNone/>
            </a:pPr>
            <a:r>
              <a:rPr lang="en-US" sz="1200" dirty="0"/>
              <a:t>Rettberg, Angelika, and Juan Felipe Ortiz-</a:t>
            </a:r>
            <a:r>
              <a:rPr lang="en-US" sz="1200" dirty="0" err="1"/>
              <a:t>Riomalo</a:t>
            </a:r>
            <a:r>
              <a:rPr lang="en-US" sz="1200" dirty="0"/>
              <a:t>. "Golden opportunity, or a new twist on the resource–conflict relationship: Links between the drug trade and illegal gold mining in Colombia." World Development 84 (2016): 82-96.</a:t>
            </a:r>
          </a:p>
          <a:p>
            <a:pPr marL="0" indent="0">
              <a:buNone/>
            </a:pPr>
            <a:r>
              <a:rPr lang="es-MX" sz="1200" dirty="0"/>
              <a:t>Engel, Stefanie, and Ana María Ibáñez. "</a:t>
            </a:r>
            <a:r>
              <a:rPr lang="es-MX" sz="1200" dirty="0" err="1"/>
              <a:t>Displacement</a:t>
            </a:r>
            <a:r>
              <a:rPr lang="es-MX" sz="1200" dirty="0"/>
              <a:t> </a:t>
            </a:r>
            <a:r>
              <a:rPr lang="es-MX" sz="1200" dirty="0" err="1"/>
              <a:t>Due</a:t>
            </a:r>
            <a:r>
              <a:rPr lang="es-MX" sz="1200" dirty="0"/>
              <a:t> </a:t>
            </a:r>
            <a:r>
              <a:rPr lang="es-MX" sz="1200" dirty="0" err="1"/>
              <a:t>to</a:t>
            </a:r>
            <a:r>
              <a:rPr lang="es-MX" sz="1200" dirty="0"/>
              <a:t> </a:t>
            </a:r>
            <a:r>
              <a:rPr lang="es-MX" sz="1200" dirty="0" err="1"/>
              <a:t>Violence</a:t>
            </a:r>
            <a:r>
              <a:rPr lang="es-MX" sz="1200" dirty="0"/>
              <a:t> in Colombia: A </a:t>
            </a:r>
            <a:r>
              <a:rPr lang="en-US" sz="1200" dirty="0"/>
              <a:t>Household-Level Analysis." </a:t>
            </a:r>
            <a:r>
              <a:rPr lang="en-US" sz="1200" i="1" dirty="0"/>
              <a:t>Economic Development and Cultural Change </a:t>
            </a:r>
            <a:r>
              <a:rPr lang="en-US" sz="1200" dirty="0"/>
              <a:t>55, no. 2 (2007): 335-365.</a:t>
            </a:r>
          </a:p>
          <a:p>
            <a:pPr marL="0" indent="0">
              <a:buNone/>
            </a:pPr>
            <a:r>
              <a:rPr lang="en-US" sz="1200" dirty="0"/>
              <a:t>Moreno León, Carlos Enrique. "Chronicle of a Survival Foretold: How Protest Behavior Against Armed Actors Influenced Violence in the Colombian Civil War, 1988–2005." Latin American Politics and Society 59, no. 4 (2017): 3-25.</a:t>
            </a:r>
          </a:p>
          <a:p>
            <a:pPr marL="0" indent="0">
              <a:buNone/>
            </a:pPr>
            <a:r>
              <a:rPr lang="en-US" sz="1200" dirty="0"/>
              <a:t>Masullo, Juan. "Civilian Contention in Civil War: How Ideational Factors Shape Community Responses to Armed Groups." </a:t>
            </a:r>
            <a:r>
              <a:rPr lang="en-US" sz="1200" i="1" dirty="0"/>
              <a:t>Comparative Political Studies </a:t>
            </a:r>
            <a:r>
              <a:rPr lang="en-US" sz="1200" dirty="0"/>
              <a:t>(2020): 0010414020912285.</a:t>
            </a:r>
          </a:p>
          <a:p>
            <a:pPr marL="0" indent="0">
              <a:buNone/>
            </a:pPr>
            <a:r>
              <a:rPr lang="en-US" sz="1200" dirty="0"/>
              <a:t>Prieto, Juan Diego. "Together after war while the war goes on: Victims, ex-combatants and communities in three Colombian cities." </a:t>
            </a:r>
            <a:r>
              <a:rPr lang="en-US" sz="1200" i="1" dirty="0"/>
              <a:t>International Journal of Transitional Justice </a:t>
            </a:r>
            <a:r>
              <a:rPr lang="en-US" sz="1200" dirty="0"/>
              <a:t>6, no. 3 </a:t>
            </a:r>
            <a:r>
              <a:rPr lang="es-MX" sz="1200" dirty="0"/>
              <a:t>(2012): 525-546.</a:t>
            </a:r>
          </a:p>
          <a:p>
            <a:pPr marL="0" indent="0">
              <a:buNone/>
            </a:pPr>
            <a:r>
              <a:rPr lang="en-US" sz="1200" dirty="0"/>
              <a:t>Peña, Andrea González, and Han </a:t>
            </a:r>
            <a:r>
              <a:rPr lang="en-US" sz="1200" dirty="0" err="1"/>
              <a:t>Dorussen</a:t>
            </a:r>
            <a:r>
              <a:rPr lang="en-US" sz="1200" dirty="0"/>
              <a:t>. "The reintegration of ex-combatants and post-conflict violence. An analysis of municipal crime levels in Colombia." Conflict Management and Peace </a:t>
            </a:r>
            <a:r>
              <a:rPr lang="es-MX" sz="1200" dirty="0" err="1"/>
              <a:t>Science</a:t>
            </a:r>
            <a:r>
              <a:rPr lang="es-MX" sz="1200" dirty="0"/>
              <a:t> (2020): 0738894219894701.</a:t>
            </a:r>
          </a:p>
          <a:p>
            <a:pPr marL="0" indent="0">
              <a:buNone/>
            </a:pPr>
            <a:r>
              <a:rPr lang="en-US" sz="1200" dirty="0"/>
              <a:t>Rettberg, Angelika. "The private sector and peace in El Salvador, Guatemala, and Colombia." </a:t>
            </a:r>
            <a:r>
              <a:rPr lang="en-US" sz="1200" i="1" dirty="0"/>
              <a:t>Journal of Latin American Studies </a:t>
            </a:r>
            <a:r>
              <a:rPr lang="en-US" sz="1200" dirty="0"/>
              <a:t>39, no. 03 (2007): 463-494.</a:t>
            </a:r>
          </a:p>
          <a:p>
            <a:pPr marL="0" indent="0">
              <a:buNone/>
            </a:pPr>
            <a:r>
              <a:rPr lang="es-MX" sz="1200" dirty="0"/>
              <a:t>Zuluaga Nieto, Jaime. “De Guerrillas a Movimientos Políticos: Análisis de la Experiencia Colombiana, el caso del M-19. En Peñaranda y Guerrero Barón (ed.), </a:t>
            </a:r>
            <a:r>
              <a:rPr lang="es-MX" sz="1200" i="1" dirty="0"/>
              <a:t>De las Armas a la Política </a:t>
            </a:r>
            <a:r>
              <a:rPr lang="es-MX" sz="1200" dirty="0"/>
              <a:t>(1-74), Bogotá: Tercer Mundo Editores (1999).</a:t>
            </a:r>
          </a:p>
          <a:p>
            <a:pPr marL="0" indent="0">
              <a:buNone/>
            </a:pPr>
            <a:r>
              <a:rPr lang="es-MX" sz="1200" dirty="0"/>
              <a:t>Botero, Sandra. "Trust in </a:t>
            </a:r>
            <a:r>
              <a:rPr lang="es-MX" sz="1200" dirty="0" err="1"/>
              <a:t>Colombia’s</a:t>
            </a:r>
            <a:r>
              <a:rPr lang="es-MX" sz="1200" dirty="0"/>
              <a:t> Justicia Especial Para La Paz: Experimental </a:t>
            </a:r>
            <a:r>
              <a:rPr lang="es-MX" sz="1200" dirty="0" err="1"/>
              <a:t>Evidence</a:t>
            </a:r>
            <a:r>
              <a:rPr lang="es-MX" sz="1200" dirty="0"/>
              <a:t>.“ </a:t>
            </a:r>
            <a:r>
              <a:rPr lang="en-US" sz="1200" i="1" dirty="0"/>
              <a:t>Journal of Politics in Latin America </a:t>
            </a:r>
            <a:r>
              <a:rPr lang="en-US" sz="1200" dirty="0"/>
              <a:t>12, no. 3 (2020): 300-322.</a:t>
            </a:r>
          </a:p>
          <a:p>
            <a:pPr marL="0" indent="0">
              <a:buNone/>
            </a:pPr>
            <a:r>
              <a:rPr lang="es-MX" sz="1200" dirty="0"/>
              <a:t>Johnson, K., Botero, F., Botero, M., Aponte, A., and Asprilla, L., (2025) Política de Paz Total: Entre luces y sombras: Marco para analizar la política integral de construcción de paz de Colombia. SOC ACE Documento de investigación 34. Universidad de Birmingham. </a:t>
            </a:r>
          </a:p>
        </p:txBody>
      </p:sp>
    </p:spTree>
    <p:extLst>
      <p:ext uri="{BB962C8B-B14F-4D97-AF65-F5344CB8AC3E}">
        <p14:creationId xmlns:p14="http://schemas.microsoft.com/office/powerpoint/2010/main" val="265863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1139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 Math</vt:lpstr>
      <vt:lpstr>Office Theme</vt:lpstr>
      <vt:lpstr>From War to Talks: influence of local negotiation tables on war related violence</vt:lpstr>
      <vt:lpstr>Context</vt:lpstr>
      <vt:lpstr>Research question:</vt:lpstr>
      <vt:lpstr>Causal graph</vt:lpstr>
      <vt:lpstr>Research Design</vt:lpstr>
      <vt:lpstr>TWFE</vt:lpstr>
      <vt:lpstr>Assumptions</vt:lpstr>
      <vt:lpstr>Plausibility 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Navarro</dc:creator>
  <cp:lastModifiedBy>Daniel Navarro</cp:lastModifiedBy>
  <cp:revision>15</cp:revision>
  <dcterms:created xsi:type="dcterms:W3CDTF">2026-02-14T14:13:20Z</dcterms:created>
  <dcterms:modified xsi:type="dcterms:W3CDTF">2026-04-01T17:06:58Z</dcterms:modified>
</cp:coreProperties>
</file>